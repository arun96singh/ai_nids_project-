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5" r:id="rId12"/>
    <p:sldId id="341" r:id="rId13"/>
    <p:sldId id="342" r:id="rId14"/>
    <p:sldId id="343" r:id="rId15"/>
    <p:sldId id="344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106" y="1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6956" y="3258749"/>
            <a:ext cx="3400089" cy="861497"/>
          </a:xfrm>
        </p:spPr>
        <p:txBody>
          <a:bodyPr/>
          <a:lstStyle/>
          <a:p>
            <a:pPr algn="r"/>
            <a:r>
              <a:rPr lang="en-IN" dirty="0"/>
              <a:t>Arun Kumar Singh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4493308" y="4084144"/>
            <a:ext cx="6283549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AICTE ID : </a:t>
            </a:r>
            <a:r>
              <a:rPr lang="en-IN" dirty="0"/>
              <a:t>APPLY_17643159816929534d1a3bd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735597"/>
            <a:ext cx="7155128" cy="4459646"/>
          </a:xfrm>
        </p:spPr>
        <p:txBody>
          <a:bodyPr>
            <a:normAutofit fontScale="55000" lnSpcReduction="20000"/>
          </a:bodyPr>
          <a:lstStyle/>
          <a:p>
            <a:r>
              <a:rPr lang="en-US" sz="2600" dirty="0"/>
              <a:t>Detection of Unknown Threats: Traditional systems fail against "zero-day" attacks. AI must learn behavioral baselines to identify novel threats.</a:t>
            </a:r>
          </a:p>
          <a:p>
            <a:r>
              <a:rPr lang="en-US" sz="2600" dirty="0"/>
              <a:t>High False Alarm Rates: Differentiating between rare but benign activity and actual malicious intrusions remains a primary hurdle, as both can appear as "anomalies".</a:t>
            </a:r>
          </a:p>
          <a:p>
            <a:r>
              <a:rPr lang="en-US" sz="2600" dirty="0"/>
              <a:t>Data Imbalance: In real-world network traffic, normal packets vastly outnumber attack packets. This "class imbalance" often leads AI models to be biased toward normal traffic, causing them to miss critical, rare attacks.</a:t>
            </a:r>
          </a:p>
          <a:p>
            <a:r>
              <a:rPr lang="en-US" sz="2600" dirty="0"/>
              <a:t>Real-time Processing Demands: Analyzing high-throughput network traffic at line speed requires significant computational resources, often leading to latency bottlenecks.</a:t>
            </a:r>
          </a:p>
          <a:p>
            <a:r>
              <a:rPr lang="en-US" sz="2600" dirty="0"/>
              <a:t>Adversarial AI: Attackers now use AI to craft "adversarial inputs"—subtly modified traffic designed specifically to bypass or "poison" detection models.</a:t>
            </a:r>
          </a:p>
          <a:p>
            <a:r>
              <a:rPr lang="en-US" sz="2600" dirty="0"/>
              <a:t>Lack of Explainability: Many AI models (especially deep learning) act as "black boxes," making it difficult for security analysts to understand </a:t>
            </a:r>
            <a:r>
              <a:rPr lang="en-US" sz="2600" i="1" dirty="0"/>
              <a:t>why</a:t>
            </a:r>
            <a:r>
              <a:rPr lang="en-US" sz="2600" dirty="0"/>
              <a:t> an alert was triggered, which hinders effective incident response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/>
          </a:bodyPr>
          <a:lstStyle/>
          <a:p>
            <a:r>
              <a:rPr lang="en-US" sz="3600" dirty="0"/>
              <a:t>PROBLEM  STATEMENT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8698205" cy="4727840"/>
          </a:xfrm>
        </p:spPr>
        <p:txBody>
          <a:bodyPr>
            <a:normAutofit fontScale="90000"/>
          </a:bodyPr>
          <a:lstStyle/>
          <a:p>
            <a:r>
              <a:rPr lang="en-GB" sz="2700" dirty="0"/>
              <a:t>Project Description </a:t>
            </a:r>
            <a:br>
              <a:rPr lang="en-GB" sz="1600" dirty="0"/>
            </a:br>
            <a:br>
              <a:rPr lang="en-GB" sz="1600" dirty="0"/>
            </a:br>
            <a:r>
              <a:rPr lang="en-IN" sz="1600" dirty="0"/>
              <a:t>Modern NIDS projects are built upon a multi-stage architecture designed for high-throughput, real-time environments: </a:t>
            </a:r>
            <a:br>
              <a:rPr lang="en-IN" sz="1600" dirty="0"/>
            </a:br>
            <a:r>
              <a:rPr lang="en-IN" sz="1600" dirty="0"/>
              <a:t>Data Acquisition &amp; Collection:</a:t>
            </a:r>
            <a:r>
              <a:rPr lang="en-IN" sz="1600" b="0" dirty="0"/>
              <a:t> Uses sensors like Snort, Wireshark, or </a:t>
            </a:r>
            <a:r>
              <a:rPr lang="en-IN" sz="1600" b="0" dirty="0" err="1"/>
              <a:t>TCPDump</a:t>
            </a:r>
            <a:r>
              <a:rPr lang="en-IN" sz="1600" b="0" dirty="0"/>
              <a:t> to capture live network traffic as PCAP files.</a:t>
            </a:r>
            <a:br>
              <a:rPr lang="en-IN" sz="1600" dirty="0"/>
            </a:br>
            <a:r>
              <a:rPr lang="en-IN" sz="1600" dirty="0"/>
              <a:t>Feature Extraction:</a:t>
            </a:r>
            <a:r>
              <a:rPr lang="en-IN" sz="1600" b="0" dirty="0"/>
              <a:t> Converts raw packets into structured flow-based features using tools like </a:t>
            </a:r>
            <a:r>
              <a:rPr lang="en-IN" sz="1600" b="0" dirty="0" err="1"/>
              <a:t>CICFlowMeter</a:t>
            </a:r>
            <a:r>
              <a:rPr lang="en-IN" sz="1600" b="0" dirty="0"/>
              <a:t> or custom C-based sniffers.</a:t>
            </a:r>
            <a:br>
              <a:rPr lang="en-IN" sz="1600" b="0" dirty="0"/>
            </a:br>
            <a:r>
              <a:rPr lang="en-IN" sz="1600" dirty="0"/>
              <a:t>Preprocessing: </a:t>
            </a:r>
            <a:r>
              <a:rPr lang="en-IN" sz="1600" b="0" dirty="0"/>
              <a:t>Includes data normalization (e.g., UTF-8 encoding), handling missing values, and addressing class imbalance—where normal traffic vastly outweighs malicious data—to ensure the AI does not become biased</a:t>
            </a:r>
            <a:r>
              <a:rPr lang="en-IN" sz="1600" dirty="0"/>
              <a:t>.</a:t>
            </a:r>
            <a:br>
              <a:rPr lang="en-IN" sz="1600" dirty="0"/>
            </a:br>
            <a:r>
              <a:rPr lang="en-IN" sz="1600" dirty="0"/>
              <a:t>AI Engine (Models):</a:t>
            </a:r>
            <a:br>
              <a:rPr lang="en-IN" sz="1600" dirty="0"/>
            </a:br>
            <a:r>
              <a:rPr lang="en-IN" sz="1600" dirty="0"/>
              <a:t>Supervised Models:</a:t>
            </a:r>
            <a:r>
              <a:rPr lang="en-IN" sz="1600" b="0" dirty="0"/>
              <a:t> Random Forest, SVM, and K-Nearest </a:t>
            </a:r>
            <a:r>
              <a:rPr lang="en-IN" sz="1600" b="0" dirty="0" err="1"/>
              <a:t>Neighbors</a:t>
            </a:r>
            <a:r>
              <a:rPr lang="en-IN" sz="1600" b="0" dirty="0"/>
              <a:t> (KNN) for classifying known attacks like DoS or Brute Force.</a:t>
            </a:r>
            <a:br>
              <a:rPr lang="en-IN" sz="1600" dirty="0"/>
            </a:br>
            <a:r>
              <a:rPr lang="en-IN" sz="1600" dirty="0"/>
              <a:t>Deep Learning Models: </a:t>
            </a:r>
            <a:r>
              <a:rPr lang="en-IN" sz="1600" b="0" dirty="0"/>
              <a:t>CNNs for spatial pattern recognition in traffic and LSTMs for </a:t>
            </a:r>
            <a:r>
              <a:rPr lang="en-IN" sz="1600" b="0" dirty="0" err="1"/>
              <a:t>analyzing</a:t>
            </a:r>
            <a:r>
              <a:rPr lang="en-IN" sz="1600" b="0" dirty="0"/>
              <a:t> sequential time-series data to detect stealthy, multi-stage attacks</a:t>
            </a:r>
            <a:r>
              <a:rPr lang="en-IN" sz="1600" dirty="0"/>
              <a:t>.</a:t>
            </a:r>
            <a:br>
              <a:rPr lang="en-IN" sz="1600" dirty="0"/>
            </a:br>
            <a:r>
              <a:rPr lang="en-IN" sz="1600" dirty="0"/>
              <a:t>Anomaly Detection: </a:t>
            </a:r>
            <a:r>
              <a:rPr lang="en-IN" sz="1600" b="0" dirty="0"/>
              <a:t>Autoencoders and GANs (Generative Adversarial Networks) that learn "normal" </a:t>
            </a:r>
            <a:r>
              <a:rPr lang="en-IN" sz="1600" b="0" dirty="0" err="1"/>
              <a:t>behavior</a:t>
            </a:r>
            <a:r>
              <a:rPr lang="en-IN" sz="1600" b="0" dirty="0"/>
              <a:t> and flag any deviation, enabling the detection of previously unseen zero-day threats</a:t>
            </a:r>
            <a:br>
              <a:rPr lang="en-IN" sz="1600" b="0" dirty="0"/>
            </a:br>
            <a:r>
              <a:rPr lang="en-GB" b="0" dirty="0"/>
              <a:t> </a:t>
            </a:r>
            <a:br>
              <a:rPr lang="en-GB" b="0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9249" y="1464906"/>
            <a:ext cx="9153331" cy="4329404"/>
          </a:xfrm>
        </p:spPr>
        <p:txBody>
          <a:bodyPr>
            <a:noAutofit/>
          </a:bodyPr>
          <a:lstStyle/>
          <a:p>
            <a:r>
              <a:rPr lang="en-IN" sz="1400" dirty="0"/>
              <a:t>As cyber threats have become more sophisticated, the user base has evolved from specialized security researchers to a diverse group of operational, management, and specialized technical personnel.</a:t>
            </a:r>
          </a:p>
          <a:p>
            <a:pPr marL="0" indent="0">
              <a:buNone/>
            </a:pPr>
            <a:endParaRPr lang="en-IN" sz="1400" dirty="0"/>
          </a:p>
          <a:p>
            <a:r>
              <a:rPr lang="en-IN" sz="1400" b="1" dirty="0"/>
              <a:t>1. Primary Operational Users (Security Teams):</a:t>
            </a:r>
            <a:r>
              <a:rPr lang="en-IN" sz="1400" dirty="0"/>
              <a:t> These users interact with the NIDS daily to maintain the organization's security posture.</a:t>
            </a:r>
          </a:p>
          <a:p>
            <a:endParaRPr lang="en-IN" sz="1400" dirty="0"/>
          </a:p>
          <a:p>
            <a:r>
              <a:rPr lang="en-IN" sz="1400" b="1" dirty="0"/>
              <a:t>2. Specialized Technical &amp; Engineering Roles:</a:t>
            </a:r>
            <a:r>
              <a:rPr lang="en-IN" sz="1400" dirty="0"/>
              <a:t> A new class of users has emerged in 2026 to manage and optimize these complex AI systems</a:t>
            </a:r>
          </a:p>
          <a:p>
            <a:r>
              <a:rPr lang="en-IN" sz="1400" b="1" dirty="0"/>
              <a:t>3. Management &amp; Governance Users:</a:t>
            </a:r>
            <a:r>
              <a:rPr lang="en-IN" sz="1400" dirty="0"/>
              <a:t> Executive-level users utilize NIDS outputs for strategic risk management and compliance</a:t>
            </a:r>
          </a:p>
          <a:p>
            <a:r>
              <a:rPr lang="en-IN" sz="1400" b="1" dirty="0"/>
              <a:t>4. Organizational &amp; Industry Sectors:</a:t>
            </a:r>
            <a:r>
              <a:rPr lang="en-IN" sz="1400" dirty="0"/>
              <a:t> AI-based NIDS are critical for sectors with high-value data or critical infrastructure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635" y="807276"/>
            <a:ext cx="11196966" cy="6022908"/>
          </a:xfrm>
        </p:spPr>
        <p:txBody>
          <a:bodyPr>
            <a:normAutofit fontScale="25000" lnSpcReduction="20000"/>
          </a:bodyPr>
          <a:lstStyle/>
          <a:p>
            <a:r>
              <a:rPr lang="en-IN" sz="5600" dirty="0"/>
              <a:t>AI-based Network Intrusion Detection Systems (NIDS) leverage a sophisticated stack of machine learning, deep learning, and specialized security frameworks to manage high-speed data and sophisticated threats. </a:t>
            </a:r>
          </a:p>
          <a:p>
            <a:r>
              <a:rPr lang="en-IN" sz="5600" b="1" dirty="0"/>
              <a:t>1. Artificial Intelligence &amp; Machine Learning Architectures</a:t>
            </a:r>
            <a:endParaRPr lang="en-IN" sz="5600" dirty="0"/>
          </a:p>
          <a:p>
            <a:r>
              <a:rPr lang="en-IN" sz="5600" dirty="0"/>
              <a:t>Modern systems have moved beyond simple "shallow" models to hybrid and specialized deep learning (DL) architectures</a:t>
            </a:r>
          </a:p>
          <a:p>
            <a:pPr lvl="0"/>
            <a:r>
              <a:rPr lang="en-IN" sz="5600" dirty="0"/>
              <a:t>Deep Learning Models: CNN (Convolutional Neural Networks, LSTM &amp; </a:t>
            </a:r>
            <a:r>
              <a:rPr lang="en-IN" sz="5600" dirty="0" err="1"/>
              <a:t>BiLSTM</a:t>
            </a:r>
            <a:r>
              <a:rPr lang="en-IN" sz="5600" dirty="0"/>
              <a:t> (Long Short-Term Memory, Autoencoders (AE)</a:t>
            </a:r>
          </a:p>
          <a:p>
            <a:pPr lvl="0"/>
            <a:r>
              <a:rPr lang="en-IN" sz="5600" dirty="0"/>
              <a:t>Ensemble &amp; Hybrid Models: </a:t>
            </a:r>
            <a:r>
              <a:rPr lang="en-IN" sz="5600" dirty="0" err="1"/>
              <a:t>XGBoost</a:t>
            </a:r>
            <a:r>
              <a:rPr lang="en-IN" sz="5600" dirty="0"/>
              <a:t>-CNN-LSTM: ,Random Forest &amp; </a:t>
            </a:r>
            <a:r>
              <a:rPr lang="en-IN" sz="5600" dirty="0" err="1"/>
              <a:t>CatBoost</a:t>
            </a:r>
            <a:endParaRPr lang="en-IN" sz="5600" dirty="0"/>
          </a:p>
          <a:p>
            <a:r>
              <a:rPr lang="en-IN" sz="5600" b="1" dirty="0"/>
              <a:t>2. Feature Extraction &amp; Data Preprocessing</a:t>
            </a:r>
            <a:endParaRPr lang="en-IN" sz="5600" dirty="0"/>
          </a:p>
          <a:p>
            <a:r>
              <a:rPr lang="en-IN" sz="5600" b="1" dirty="0"/>
              <a:t>3. Explainability &amp; Transparency (XAI)</a:t>
            </a:r>
            <a:endParaRPr lang="en-IN" sz="5600" dirty="0"/>
          </a:p>
          <a:p>
            <a:r>
              <a:rPr lang="en-IN" sz="5600" b="1" dirty="0"/>
              <a:t>4. Implementation &amp; Deployment Technologies</a:t>
            </a:r>
            <a:endParaRPr lang="en-IN" sz="5600" dirty="0"/>
          </a:p>
          <a:p>
            <a:r>
              <a:rPr lang="en-IN" sz="5600" b="1" dirty="0"/>
              <a:t>5. Emerging Trends for 2026</a:t>
            </a:r>
            <a:endParaRPr lang="en-IN" sz="5600" dirty="0"/>
          </a:p>
          <a:p>
            <a:pPr lvl="0"/>
            <a:r>
              <a:rPr lang="en-IN" sz="5600" dirty="0"/>
              <a:t>Graph Neural Networks (GNNs): Emerging as a tool to map complex entity relationships and uncover subtle, multi-hop lateral movements within a network</a:t>
            </a:r>
          </a:p>
          <a:p>
            <a:r>
              <a:rPr lang="en-IN" sz="5600" dirty="0"/>
              <a:t> 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sz="1800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244525" cy="310547"/>
          </a:xfrm>
        </p:spPr>
        <p:txBody>
          <a:bodyPr>
            <a:normAutofit/>
          </a:bodyPr>
          <a:lstStyle/>
          <a:p>
            <a:r>
              <a:rPr lang="en-GB" sz="1400" dirty="0"/>
              <a:t>RESULTS </a:t>
            </a:r>
            <a:endParaRPr lang="en-IN" sz="1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554E2CE9-0D24-F6D5-6378-2600E3331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04" y="1129003"/>
            <a:ext cx="6523229" cy="5047861"/>
          </a:xfrm>
          <a:prstGeom prst="rect">
            <a:avLst/>
          </a:prstGeom>
        </p:spPr>
      </p:pic>
      <p:pic>
        <p:nvPicPr>
          <p:cNvPr id="11" name="Picture 10" descr="A screen shot of a computer">
            <a:extLst>
              <a:ext uri="{FF2B5EF4-FFF2-40B4-BE49-F238E27FC236}">
                <a16:creationId xmlns:a16="http://schemas.microsoft.com/office/drawing/2014/main" id="{4EC38E71-C102-5E6E-B126-CCBFD33E1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29002"/>
            <a:ext cx="6096000" cy="504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283471" cy="263893"/>
          </a:xfrm>
        </p:spPr>
        <p:txBody>
          <a:bodyPr>
            <a:normAutofit fontScale="90000"/>
          </a:bodyPr>
          <a:lstStyle/>
          <a:p>
            <a:r>
              <a:rPr lang="en-GB" sz="1400" dirty="0"/>
              <a:t>RESULTS </a:t>
            </a:r>
            <a:endParaRPr lang="en-IN" sz="1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04EFB4DC-2363-8C27-C885-A988F09F9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238"/>
            <a:ext cx="12192000" cy="616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283471" cy="263893"/>
          </a:xfrm>
        </p:spPr>
        <p:txBody>
          <a:bodyPr>
            <a:normAutofit fontScale="90000"/>
          </a:bodyPr>
          <a:lstStyle/>
          <a:p>
            <a:r>
              <a:rPr lang="en-GB" sz="1400" dirty="0"/>
              <a:t>RESULTS </a:t>
            </a:r>
            <a:endParaRPr lang="en-IN" sz="1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BF50200B-4D88-67A8-5964-22F00BDAB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971"/>
            <a:ext cx="12192000" cy="646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6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6" name="Picture 5" descr="A certificate of completion with red text">
            <a:extLst>
              <a:ext uri="{FF2B5EF4-FFF2-40B4-BE49-F238E27FC236}">
                <a16:creationId xmlns:a16="http://schemas.microsoft.com/office/drawing/2014/main" id="{13C59954-8750-F457-22D8-14AD4DA78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10" y="1017037"/>
            <a:ext cx="10987005" cy="55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3" name="Picture 2" descr="A certificate of completion with red text">
            <a:extLst>
              <a:ext uri="{FF2B5EF4-FFF2-40B4-BE49-F238E27FC236}">
                <a16:creationId xmlns:a16="http://schemas.microsoft.com/office/drawing/2014/main" id="{96ACF778-FEAF-ED70-F136-D605A985B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36" y="1021404"/>
            <a:ext cx="10856176" cy="545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Securing Android Devices</a:t>
            </a:r>
          </a:p>
        </p:txBody>
      </p:sp>
      <p:pic>
        <p:nvPicPr>
          <p:cNvPr id="3" name="Picture 2" descr="A certificate of completion with red text">
            <a:extLst>
              <a:ext uri="{FF2B5EF4-FFF2-40B4-BE49-F238E27FC236}">
                <a16:creationId xmlns:a16="http://schemas.microsoft.com/office/drawing/2014/main" id="{AFBC12EF-6EF1-9B97-9DAB-18F029F0F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10" y="1147863"/>
            <a:ext cx="10960333" cy="532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documentManagement/types"/>
    <ds:schemaRef ds:uri="http://purl.org/dc/elements/1.1/"/>
    <ds:schemaRef ds:uri="71af3243-3dd4-4a8d-8c0d-dd76da1f02a5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939</TotalTime>
  <Words>697</Words>
  <Application>Microsoft Office PowerPoint</Application>
  <PresentationFormat>Widescreen</PresentationFormat>
  <Paragraphs>46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  Modern NIDS projects are built upon a multi-stage architecture designed for high-throughput, real-time environments:  Data Acquisition &amp; Collection: Uses sensors like Snort, Wireshark, or TCPDump to capture live network traffic as PCAP files. Feature Extraction: Converts raw packets into structured flow-based features using tools like CICFlowMeter or custom C-based sniffers. Preprocessing: Includes data normalization (e.g., UTF-8 encoding), handling missing values, and addressing class imbalance—where normal traffic vastly outweighs malicious data—to ensure the AI does not become biased. AI Engine (Models): Supervised Models: Random Forest, SVM, and K-Nearest Neighbors (KNN) for classifying known attacks like DoS or Brute Force. Deep Learning Models: CNNs for spatial pattern recognition in traffic and LSTMs for analyzing sequential time-series data to detect stealthy, multi-stage attacks. Anomaly Detection: Autoencoders and GANs (Generative Adversarial Networks) that learn "normal" behavior and flag any deviation, enabling the detection of previously unseen zero-day threats      </vt:lpstr>
      <vt:lpstr>WHO ARE THE END USERS?</vt:lpstr>
      <vt:lpstr>Technology Used</vt:lpstr>
      <vt:lpstr>RESULTS </vt:lpstr>
      <vt:lpstr>RESULTS 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ARUN SINGH</cp:lastModifiedBy>
  <cp:revision>81</cp:revision>
  <dcterms:created xsi:type="dcterms:W3CDTF">2021-07-11T13:13:15Z</dcterms:created>
  <dcterms:modified xsi:type="dcterms:W3CDTF">2026-01-03T12:21:08Z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